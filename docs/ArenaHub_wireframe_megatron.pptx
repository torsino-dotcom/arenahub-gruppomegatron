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/>
              <a:t>Homepage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/>
              <a:t>Sezione tornei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/>
              <a:t>Dettaglio tornei (no login)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/>
              <a:t>Dettaglio tornei (login)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/>
              <a:t>Menù utente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/>
              <a:t>Profilo utente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/>
              <a:t>Profilo utente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/>
              <a:t>Impostazioni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/>
              <a:t>Log In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/>
              <a:t>Sign In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0600" y="952500"/>
            <a:ext cx="9123300" cy="176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10250" y="4433100"/>
            <a:ext cx="9123300" cy="71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182763" y="153300"/>
            <a:ext cx="1343700" cy="71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1980238" y="184175"/>
            <a:ext cx="1253100" cy="58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3528488" y="184175"/>
            <a:ext cx="1253100" cy="5871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Tornei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7303338" y="245975"/>
            <a:ext cx="803100" cy="463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8197138" y="245975"/>
            <a:ext cx="803100" cy="4635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it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Registrati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20600" y="2713350"/>
            <a:ext cx="9123300" cy="171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190500" y="2836900"/>
            <a:ext cx="1253100" cy="14544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gioco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1671250" y="2845950"/>
            <a:ext cx="1253100" cy="14544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gioco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3152000" y="2845950"/>
            <a:ext cx="1253100" cy="14544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gioco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4632750" y="2841425"/>
            <a:ext cx="1253100" cy="14544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gioco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6113500" y="2850475"/>
            <a:ext cx="1253100" cy="14544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gioco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7594250" y="2850475"/>
            <a:ext cx="1253100" cy="14544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gioco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182763" y="153300"/>
            <a:ext cx="1343700" cy="71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1980238" y="184175"/>
            <a:ext cx="1253100" cy="58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3528488" y="184175"/>
            <a:ext cx="1253100" cy="5871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Tornei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7303338" y="245975"/>
            <a:ext cx="803100" cy="463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8197138" y="245975"/>
            <a:ext cx="803100" cy="4635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it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Registrati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175050" y="1230550"/>
            <a:ext cx="69816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it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Tornei Aperti</a:t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180800" y="2682000"/>
            <a:ext cx="8802000" cy="110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366150" y="2821000"/>
            <a:ext cx="16044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Nome torneo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5123500" y="3222600"/>
            <a:ext cx="12531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Posti 3/16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7146950" y="2940750"/>
            <a:ext cx="1652700" cy="5871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381600" y="3222550"/>
            <a:ext cx="32901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League of legends · 16/10 · 15:00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161200" y="3935750"/>
            <a:ext cx="8802000" cy="110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346550" y="4074750"/>
            <a:ext cx="16044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Nome torneo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103900" y="4476350"/>
            <a:ext cx="12531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Posti 3/16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7127350" y="4194500"/>
            <a:ext cx="1652700" cy="5871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362000" y="4476300"/>
            <a:ext cx="32901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Valorant · 16/10 · 15:00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182775" y="1886675"/>
            <a:ext cx="4428600" cy="40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Cerca torneo…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4997275" y="1886700"/>
            <a:ext cx="1770000" cy="40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Filtra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182880" y="4709160"/>
            <a:ext cx="4114800" cy="292608"/>
          </a:xfrm>
          <a:prstGeom prst="roundRect">
            <a:avLst>
              <a:gd fmla="val 16667" name="adj"/>
            </a:avLst>
          </a:prstGeom>
          <a:solidFill>
            <a:srgbClr val="F0F6FC"/>
          </a:solidFill>
          <a:ln cap="flat" cmpd="sng" w="12700">
            <a:solidFill>
              <a:srgbClr val="225A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225A96"/>
                </a:solidFill>
                <a:latin typeface="Arial"/>
                <a:ea typeface="Arial"/>
                <a:cs typeface="Arial"/>
                <a:sym typeface="Arial"/>
              </a:rPr>
              <a:t>GET /api/tornei  ·  carica catalogo</a:t>
            </a:r>
            <a:endParaRPr/>
          </a:p>
        </p:txBody>
      </p:sp>
      <p:cxnSp>
        <p:nvCxnSpPr>
          <p:cNvPr id="93" name="Google Shape;93;p14"/>
          <p:cNvCxnSpPr/>
          <p:nvPr/>
        </p:nvCxnSpPr>
        <p:spPr>
          <a:xfrm rot="10800000">
            <a:off x="2103120" y="4553712"/>
            <a:ext cx="0" cy="155448"/>
          </a:xfrm>
          <a:prstGeom prst="straightConnector1">
            <a:avLst/>
          </a:prstGeom>
          <a:noFill/>
          <a:ln cap="flat" cmpd="sng" w="17775">
            <a:solidFill>
              <a:srgbClr val="225A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4" name="Google Shape;94;p14"/>
          <p:cNvSpPr/>
          <p:nvPr/>
        </p:nvSpPr>
        <p:spPr>
          <a:xfrm>
            <a:off x="4572000" y="4709160"/>
            <a:ext cx="4297680" cy="292608"/>
          </a:xfrm>
          <a:prstGeom prst="roundRect">
            <a:avLst>
              <a:gd fmla="val 16667" name="adj"/>
            </a:avLst>
          </a:prstGeom>
          <a:solidFill>
            <a:srgbClr val="F0F6FC"/>
          </a:solidFill>
          <a:ln cap="flat" cmpd="sng" w="12700">
            <a:solidFill>
              <a:srgbClr val="225A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225A96"/>
                </a:solidFill>
                <a:latin typeface="Arial"/>
                <a:ea typeface="Arial"/>
                <a:cs typeface="Arial"/>
                <a:sym typeface="Arial"/>
              </a:rPr>
              <a:t>GET /api/tornei/{id}  ·  pulsante “Visualizza”</a:t>
            </a:r>
            <a:endParaRPr/>
          </a:p>
        </p:txBody>
      </p:sp>
      <p:cxnSp>
        <p:nvCxnSpPr>
          <p:cNvPr id="95" name="Google Shape;95;p14"/>
          <p:cNvCxnSpPr/>
          <p:nvPr/>
        </p:nvCxnSpPr>
        <p:spPr>
          <a:xfrm rot="10800000">
            <a:off x="7955279" y="3520440"/>
            <a:ext cx="0" cy="1188720"/>
          </a:xfrm>
          <a:prstGeom prst="straightConnector1">
            <a:avLst/>
          </a:prstGeom>
          <a:noFill/>
          <a:ln cap="flat" cmpd="sng" w="17775">
            <a:solidFill>
              <a:srgbClr val="225A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182763" y="153300"/>
            <a:ext cx="1343700" cy="71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1980238" y="184175"/>
            <a:ext cx="1253100" cy="58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3528488" y="184175"/>
            <a:ext cx="1253100" cy="5871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Tornei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7303338" y="245975"/>
            <a:ext cx="803100" cy="463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8197138" y="245975"/>
            <a:ext cx="803100" cy="4635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it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Registrati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128725" y="1014275"/>
            <a:ext cx="31047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&lt;- Torna ai tornei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406750" y="1628350"/>
            <a:ext cx="29346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it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Nome torneo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406750" y="2759675"/>
            <a:ext cx="31974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e ora: 23/02/26, 16:00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406750" y="2340000"/>
            <a:ext cx="31974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Gioco: League of Legends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406750" y="3439275"/>
            <a:ext cx="8217600" cy="71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Descrizione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4098325" y="1628350"/>
            <a:ext cx="4525800" cy="166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eventuale png del torneo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2672100" y="4365775"/>
            <a:ext cx="3799800" cy="58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Accedi per iscriverti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4754880" y="987552"/>
            <a:ext cx="4114800" cy="310896"/>
          </a:xfrm>
          <a:prstGeom prst="roundRect">
            <a:avLst>
              <a:gd fmla="val 16667" name="adj"/>
            </a:avLst>
          </a:prstGeom>
          <a:solidFill>
            <a:srgbClr val="F0F6FC"/>
          </a:solidFill>
          <a:ln cap="flat" cmpd="sng" w="12700">
            <a:solidFill>
              <a:srgbClr val="225A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225A96"/>
                </a:solidFill>
                <a:latin typeface="Arial"/>
                <a:ea typeface="Arial"/>
                <a:cs typeface="Arial"/>
                <a:sym typeface="Arial"/>
              </a:rPr>
              <a:t>GET /api/tornei/{id}  ·  carica dettaglio</a:t>
            </a:r>
            <a:endParaRPr/>
          </a:p>
        </p:txBody>
      </p:sp>
      <p:cxnSp>
        <p:nvCxnSpPr>
          <p:cNvPr id="114" name="Google Shape;114;p15"/>
          <p:cNvCxnSpPr/>
          <p:nvPr/>
        </p:nvCxnSpPr>
        <p:spPr>
          <a:xfrm>
            <a:off x="6766560" y="1298448"/>
            <a:ext cx="0" cy="329184"/>
          </a:xfrm>
          <a:prstGeom prst="straightConnector1">
            <a:avLst/>
          </a:prstGeom>
          <a:noFill/>
          <a:ln cap="flat" cmpd="sng" w="17775">
            <a:solidFill>
              <a:srgbClr val="225A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5" name="Google Shape;115;p15"/>
          <p:cNvSpPr/>
          <p:nvPr/>
        </p:nvSpPr>
        <p:spPr>
          <a:xfrm>
            <a:off x="2011680" y="4892040"/>
            <a:ext cx="5303520" cy="228600"/>
          </a:xfrm>
          <a:prstGeom prst="roundRect">
            <a:avLst>
              <a:gd fmla="val 16667" name="adj"/>
            </a:avLst>
          </a:prstGeom>
          <a:solidFill>
            <a:srgbClr val="FFF5F5"/>
          </a:solidFill>
          <a:ln cap="flat" cmpd="sng" w="12700">
            <a:solidFill>
              <a:srgbClr val="B437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700" u="none" cap="none" strike="noStrike">
                <a:solidFill>
                  <a:srgbClr val="B43737"/>
                </a:solidFill>
                <a:latin typeface="Arial"/>
                <a:ea typeface="Arial"/>
                <a:cs typeface="Arial"/>
                <a:sym typeface="Arial"/>
              </a:rPr>
              <a:t>“Accedi per iscriverti” → apre il login (nessuna API di iscrizione qui)</a:t>
            </a:r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 rot="10800000">
            <a:off x="4663440" y="4681728"/>
            <a:ext cx="0" cy="210312"/>
          </a:xfrm>
          <a:prstGeom prst="straightConnector1">
            <a:avLst/>
          </a:prstGeom>
          <a:noFill/>
          <a:ln cap="flat" cmpd="sng" w="17775">
            <a:solidFill>
              <a:srgbClr val="B437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182763" y="153300"/>
            <a:ext cx="1343700" cy="71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1980238" y="184175"/>
            <a:ext cx="1253100" cy="58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3528488" y="184175"/>
            <a:ext cx="1253100" cy="5871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Tornei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7002155" y="245975"/>
            <a:ext cx="1104300" cy="463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t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Utente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8197138" y="245975"/>
            <a:ext cx="803100" cy="4635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it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Esci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128725" y="1014275"/>
            <a:ext cx="31047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&lt;- Torna ai tornei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406750" y="1628350"/>
            <a:ext cx="29346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it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Nome torneo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406750" y="2759675"/>
            <a:ext cx="31974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e ora: 23/02/26, 16:00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406750" y="2340000"/>
            <a:ext cx="31974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Gioco: League of Legends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406750" y="3439275"/>
            <a:ext cx="8217600" cy="71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Descrizione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6183525" y="1628350"/>
            <a:ext cx="2440500" cy="159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eventuale png del torneo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406750" y="4372225"/>
            <a:ext cx="3799800" cy="587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Sei iscritto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4781600" y="4372225"/>
            <a:ext cx="3799800" cy="58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Annulla iscrizione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3480475" y="1693900"/>
            <a:ext cx="2440500" cy="463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player 1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3480475" y="2753225"/>
            <a:ext cx="2440500" cy="463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player 2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4129225" y="2157400"/>
            <a:ext cx="1253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228600" y="4892040"/>
            <a:ext cx="4114800" cy="228600"/>
          </a:xfrm>
          <a:prstGeom prst="roundRect">
            <a:avLst>
              <a:gd fmla="val 16667" name="adj"/>
            </a:avLst>
          </a:prstGeom>
          <a:solidFill>
            <a:srgbClr val="F0F6FC"/>
          </a:solidFill>
          <a:ln cap="flat" cmpd="sng" w="12700">
            <a:solidFill>
              <a:srgbClr val="225A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700" u="none" cap="none" strike="noStrike">
                <a:solidFill>
                  <a:srgbClr val="225A96"/>
                </a:solidFill>
                <a:latin typeface="Arial"/>
                <a:ea typeface="Arial"/>
                <a:cs typeface="Arial"/>
                <a:sym typeface="Arial"/>
              </a:rPr>
              <a:t>POST /api/tornei/{id}/iscrizioni  ·  iscrizione</a:t>
            </a:r>
            <a:endParaRPr/>
          </a:p>
        </p:txBody>
      </p:sp>
      <p:cxnSp>
        <p:nvCxnSpPr>
          <p:cNvPr id="139" name="Google Shape;139;p16"/>
          <p:cNvCxnSpPr/>
          <p:nvPr/>
        </p:nvCxnSpPr>
        <p:spPr>
          <a:xfrm rot="10800000">
            <a:off x="2194560" y="4709160"/>
            <a:ext cx="0" cy="182880"/>
          </a:xfrm>
          <a:prstGeom prst="straightConnector1">
            <a:avLst/>
          </a:prstGeom>
          <a:noFill/>
          <a:ln cap="flat" cmpd="sng" w="17775">
            <a:solidFill>
              <a:srgbClr val="225A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0" name="Google Shape;140;p16"/>
          <p:cNvSpPr/>
          <p:nvPr/>
        </p:nvSpPr>
        <p:spPr>
          <a:xfrm>
            <a:off x="4572000" y="4892040"/>
            <a:ext cx="4297680" cy="228600"/>
          </a:xfrm>
          <a:prstGeom prst="roundRect">
            <a:avLst>
              <a:gd fmla="val 16667" name="adj"/>
            </a:avLst>
          </a:prstGeom>
          <a:solidFill>
            <a:srgbClr val="F0F6FC"/>
          </a:solidFill>
          <a:ln cap="flat" cmpd="sng" w="12700">
            <a:solidFill>
              <a:srgbClr val="225A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700" u="none" cap="none" strike="noStrike">
                <a:solidFill>
                  <a:srgbClr val="225A96"/>
                </a:solidFill>
                <a:latin typeface="Arial"/>
                <a:ea typeface="Arial"/>
                <a:cs typeface="Arial"/>
                <a:sym typeface="Arial"/>
              </a:rPr>
              <a:t>DELETE /api/tornei/{id}/iscrizioni  ·  annulla</a:t>
            </a:r>
            <a:endParaRPr/>
          </a:p>
        </p:txBody>
      </p:sp>
      <p:cxnSp>
        <p:nvCxnSpPr>
          <p:cNvPr id="141" name="Google Shape;141;p16"/>
          <p:cNvCxnSpPr/>
          <p:nvPr/>
        </p:nvCxnSpPr>
        <p:spPr>
          <a:xfrm rot="10800000">
            <a:off x="6583680" y="4709160"/>
            <a:ext cx="0" cy="182880"/>
          </a:xfrm>
          <a:prstGeom prst="straightConnector1">
            <a:avLst/>
          </a:prstGeom>
          <a:noFill/>
          <a:ln cap="flat" cmpd="sng" w="17775">
            <a:solidFill>
              <a:srgbClr val="225A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182763" y="153300"/>
            <a:ext cx="1343700" cy="71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1980238" y="184175"/>
            <a:ext cx="1253100" cy="58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3528488" y="184175"/>
            <a:ext cx="1253100" cy="5871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Tornei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7002155" y="245975"/>
            <a:ext cx="1104300" cy="463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t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Utente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8197138" y="245975"/>
            <a:ext cx="803100" cy="4635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it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Esci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6344100" y="1221025"/>
            <a:ext cx="2420400" cy="29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7270800" y="771275"/>
            <a:ext cx="567000" cy="463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6585425" y="1373150"/>
            <a:ext cx="17850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nome utente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6661325" y="3640800"/>
            <a:ext cx="18459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 out -&gt;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6570575" y="1904788"/>
            <a:ext cx="1785000" cy="45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Profilo utente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6570575" y="2476675"/>
            <a:ext cx="1785000" cy="45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miei tornei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6570575" y="3058738"/>
            <a:ext cx="1785000" cy="45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Impostazioni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182763" y="153300"/>
            <a:ext cx="1343700" cy="71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1980238" y="184175"/>
            <a:ext cx="1253100" cy="58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3528488" y="184175"/>
            <a:ext cx="1253100" cy="5871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Tornei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7002155" y="245975"/>
            <a:ext cx="1104300" cy="463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t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Utente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8197138" y="245975"/>
            <a:ext cx="803100" cy="4635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it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Esci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182775" y="1159825"/>
            <a:ext cx="4738800" cy="58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profilo utente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182775" y="1954250"/>
            <a:ext cx="6414300" cy="58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Nome utente: nome_utente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182775" y="2748675"/>
            <a:ext cx="6414300" cy="58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Email: nome.cognome@example.com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7002150" y="1159825"/>
            <a:ext cx="2018700" cy="329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7111550" y="1778675"/>
            <a:ext cx="1792500" cy="627300"/>
          </a:xfrm>
          <a:prstGeom prst="rect">
            <a:avLst/>
          </a:prstGeom>
          <a:solidFill>
            <a:schemeClr val="lt2"/>
          </a:solidFill>
          <a:ln cap="flat" cmpd="sng" w="9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00" lIns="91800" spcFirstLastPara="1" rIns="91800" wrap="square" tIns="91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6"/>
              <a:buFont typeface="Arial"/>
              <a:buNone/>
            </a:pPr>
            <a:r>
              <a:rPr b="0" i="0" lang="it" sz="140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Profilo utente</a:t>
            </a:r>
            <a:endParaRPr b="0" i="0" sz="140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7111550" y="2644736"/>
            <a:ext cx="1792500" cy="614100"/>
          </a:xfrm>
          <a:prstGeom prst="rect">
            <a:avLst/>
          </a:prstGeom>
          <a:solidFill>
            <a:schemeClr val="lt2"/>
          </a:solidFill>
          <a:ln cap="flat" cmpd="sng" w="9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00" lIns="91800" spcFirstLastPara="1" rIns="91800" wrap="square" tIns="91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6"/>
              <a:buFont typeface="Arial"/>
              <a:buNone/>
            </a:pPr>
            <a:r>
              <a:rPr b="0" i="0" lang="it" sz="140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miei tornei</a:t>
            </a:r>
            <a:endParaRPr b="0" i="0" sz="140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7111550" y="3510811"/>
            <a:ext cx="1792500" cy="614100"/>
          </a:xfrm>
          <a:prstGeom prst="rect">
            <a:avLst/>
          </a:prstGeom>
          <a:solidFill>
            <a:schemeClr val="lt2"/>
          </a:solidFill>
          <a:ln cap="flat" cmpd="sng" w="9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00" lIns="91800" spcFirstLastPara="1" rIns="91800" wrap="square" tIns="91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6"/>
              <a:buFont typeface="Arial"/>
              <a:buNone/>
            </a:pPr>
            <a:r>
              <a:rPr b="0" i="0" lang="it" sz="140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Impostazioni</a:t>
            </a:r>
            <a:endParaRPr b="0" i="0" sz="140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182763" y="153300"/>
            <a:ext cx="1343700" cy="71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1980238" y="184175"/>
            <a:ext cx="1253100" cy="58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3528488" y="184175"/>
            <a:ext cx="1253100" cy="5871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Tornei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7002155" y="245975"/>
            <a:ext cx="1104300" cy="463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t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Utente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8197138" y="245975"/>
            <a:ext cx="803100" cy="4635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it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Esci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7002150" y="1235450"/>
            <a:ext cx="2018700" cy="322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7111550" y="1611125"/>
            <a:ext cx="1792500" cy="627300"/>
          </a:xfrm>
          <a:prstGeom prst="rect">
            <a:avLst/>
          </a:prstGeom>
          <a:solidFill>
            <a:schemeClr val="lt2"/>
          </a:solidFill>
          <a:ln cap="flat" cmpd="sng" w="9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00" lIns="91800" spcFirstLastPara="1" rIns="91800" wrap="square" tIns="91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6"/>
              <a:buFont typeface="Arial"/>
              <a:buNone/>
            </a:pPr>
            <a:r>
              <a:rPr b="0" i="0" lang="it" sz="140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Profilo utente</a:t>
            </a:r>
            <a:endParaRPr b="0" i="0" sz="140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7111550" y="2533836"/>
            <a:ext cx="1792500" cy="614100"/>
          </a:xfrm>
          <a:prstGeom prst="rect">
            <a:avLst/>
          </a:prstGeom>
          <a:solidFill>
            <a:schemeClr val="lt2"/>
          </a:solidFill>
          <a:ln cap="flat" cmpd="sng" w="9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00" lIns="91800" spcFirstLastPara="1" rIns="91800" wrap="square" tIns="91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6"/>
              <a:buFont typeface="Arial"/>
              <a:buNone/>
            </a:pPr>
            <a:r>
              <a:rPr b="0" i="0" lang="it" sz="140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miei tornei</a:t>
            </a:r>
            <a:endParaRPr b="0" i="0" sz="140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7111550" y="3443336"/>
            <a:ext cx="1792500" cy="614100"/>
          </a:xfrm>
          <a:prstGeom prst="rect">
            <a:avLst/>
          </a:prstGeom>
          <a:solidFill>
            <a:schemeClr val="lt2"/>
          </a:solidFill>
          <a:ln cap="flat" cmpd="sng" w="9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00" lIns="91800" spcFirstLastPara="1" rIns="91800" wrap="square" tIns="91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6"/>
              <a:buFont typeface="Arial"/>
              <a:buNone/>
            </a:pPr>
            <a:r>
              <a:rPr b="0" i="0" lang="it" sz="140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Impostazioni</a:t>
            </a:r>
            <a:endParaRPr b="0" i="0" sz="140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182765" y="1301913"/>
            <a:ext cx="5414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it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 tuoi tornei</a:t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171950" y="1977200"/>
            <a:ext cx="6699000" cy="110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330869" y="2238425"/>
            <a:ext cx="20187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it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Nome torneo</a:t>
            </a:r>
            <a:endParaRPr b="1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3648100" y="2640025"/>
            <a:ext cx="13437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Posti 3/16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5356165" y="2278200"/>
            <a:ext cx="1281600" cy="5871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330876" y="2640025"/>
            <a:ext cx="28905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League of legends · 16/10 · 15:00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171950" y="3325850"/>
            <a:ext cx="6699000" cy="110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330869" y="3587075"/>
            <a:ext cx="20187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it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Nome torneo</a:t>
            </a:r>
            <a:endParaRPr b="1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3648100" y="3988675"/>
            <a:ext cx="13437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Posti 2/16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5356165" y="3626850"/>
            <a:ext cx="1281600" cy="5871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330876" y="3988675"/>
            <a:ext cx="28905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League of legends · 16/10 · 15:00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182763" y="153300"/>
            <a:ext cx="1343700" cy="71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1980238" y="184175"/>
            <a:ext cx="1253100" cy="58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3528488" y="184175"/>
            <a:ext cx="1253100" cy="5871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Tornei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7002155" y="245975"/>
            <a:ext cx="1104300" cy="463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t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Utente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8197138" y="245975"/>
            <a:ext cx="803100" cy="4635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it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Esci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7002150" y="1235450"/>
            <a:ext cx="2018700" cy="322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7111550" y="1611125"/>
            <a:ext cx="1792500" cy="627300"/>
          </a:xfrm>
          <a:prstGeom prst="rect">
            <a:avLst/>
          </a:prstGeom>
          <a:solidFill>
            <a:schemeClr val="lt2"/>
          </a:solidFill>
          <a:ln cap="flat" cmpd="sng" w="9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00" lIns="91800" spcFirstLastPara="1" rIns="91800" wrap="square" tIns="91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6"/>
              <a:buFont typeface="Arial"/>
              <a:buNone/>
            </a:pPr>
            <a:r>
              <a:rPr b="0" i="0" lang="it" sz="140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Profilo utente</a:t>
            </a:r>
            <a:endParaRPr b="0" i="0" sz="140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7111550" y="2533836"/>
            <a:ext cx="1792500" cy="614100"/>
          </a:xfrm>
          <a:prstGeom prst="rect">
            <a:avLst/>
          </a:prstGeom>
          <a:solidFill>
            <a:schemeClr val="lt2"/>
          </a:solidFill>
          <a:ln cap="flat" cmpd="sng" w="9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00" lIns="91800" spcFirstLastPara="1" rIns="91800" wrap="square" tIns="91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6"/>
              <a:buFont typeface="Arial"/>
              <a:buNone/>
            </a:pPr>
            <a:r>
              <a:rPr b="0" i="0" lang="it" sz="140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miei tornei</a:t>
            </a:r>
            <a:endParaRPr b="0" i="0" sz="140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7111550" y="3443336"/>
            <a:ext cx="1792500" cy="614100"/>
          </a:xfrm>
          <a:prstGeom prst="rect">
            <a:avLst/>
          </a:prstGeom>
          <a:solidFill>
            <a:schemeClr val="lt2"/>
          </a:solidFill>
          <a:ln cap="flat" cmpd="sng" w="9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00" lIns="91800" spcFirstLastPara="1" rIns="91800" wrap="square" tIns="91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6"/>
              <a:buFont typeface="Arial"/>
              <a:buNone/>
            </a:pPr>
            <a:r>
              <a:rPr b="0" i="0" lang="it" sz="140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Impostazioni</a:t>
            </a:r>
            <a:endParaRPr b="0" i="0" sz="140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383250" y="1295950"/>
            <a:ext cx="5793900" cy="370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731175" y="1472275"/>
            <a:ext cx="21027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Profilo e Account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746300" y="1875800"/>
            <a:ext cx="2102700" cy="58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Modifica nome utente…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746300" y="2551575"/>
            <a:ext cx="2102700" cy="46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Email e cambio password…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746300" y="3222800"/>
            <a:ext cx="2102700" cy="46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Selezione del 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3181900" y="1931325"/>
            <a:ext cx="665700" cy="46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3181900" y="2551575"/>
            <a:ext cx="665700" cy="46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3044502" y="3265400"/>
            <a:ext cx="803100" cy="46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Chiaro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3978500" y="3265400"/>
            <a:ext cx="803100" cy="46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182763" y="153300"/>
            <a:ext cx="1343700" cy="71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1980238" y="184175"/>
            <a:ext cx="1253100" cy="58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3528488" y="184175"/>
            <a:ext cx="1253100" cy="5871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Tornei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7002155" y="245975"/>
            <a:ext cx="1104300" cy="463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t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Accedi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8197138" y="245975"/>
            <a:ext cx="803100" cy="4635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it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Registrati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2215650" y="1099350"/>
            <a:ext cx="4712700" cy="395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2718900" y="1885971"/>
            <a:ext cx="3624900" cy="34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2718900" y="2393834"/>
            <a:ext cx="3624900" cy="34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Cognome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2718900" y="2901695"/>
            <a:ext cx="3624900" cy="34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2718900" y="3409556"/>
            <a:ext cx="3624900" cy="34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Password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2718900" y="3917417"/>
            <a:ext cx="3624900" cy="34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Conferma password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3904800" y="4457250"/>
            <a:ext cx="1253100" cy="4107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2718900" y="1341350"/>
            <a:ext cx="3624900" cy="34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Username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2103120" y="4800600"/>
            <a:ext cx="5212080" cy="256032"/>
          </a:xfrm>
          <a:prstGeom prst="roundRect">
            <a:avLst>
              <a:gd fmla="val 16667" name="adj"/>
            </a:avLst>
          </a:prstGeom>
          <a:solidFill>
            <a:srgbClr val="FFF5F5"/>
          </a:solidFill>
          <a:ln cap="flat" cmpd="sng" w="12700">
            <a:solidFill>
              <a:srgbClr val="B437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700" u="none" cap="none" strike="noStrike">
                <a:solidFill>
                  <a:srgbClr val="B43737"/>
                </a:solidFill>
                <a:latin typeface="Arial"/>
                <a:ea typeface="Arial"/>
                <a:cs typeface="Arial"/>
                <a:sym typeface="Arial"/>
              </a:rPr>
              <a:t>POST /api/auth/register  ·  endpoint DA DEFINIRE nel contratto</a:t>
            </a:r>
            <a:endParaRPr/>
          </a:p>
        </p:txBody>
      </p:sp>
      <p:cxnSp>
        <p:nvCxnSpPr>
          <p:cNvPr id="243" name="Google Shape;243;p21"/>
          <p:cNvCxnSpPr/>
          <p:nvPr/>
        </p:nvCxnSpPr>
        <p:spPr>
          <a:xfrm rot="10800000">
            <a:off x="4572000" y="4645152"/>
            <a:ext cx="0" cy="155448"/>
          </a:xfrm>
          <a:prstGeom prst="straightConnector1">
            <a:avLst/>
          </a:prstGeom>
          <a:noFill/>
          <a:ln cap="flat" cmpd="sng" w="17775">
            <a:solidFill>
              <a:srgbClr val="B437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182763" y="153300"/>
            <a:ext cx="1343700" cy="71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1980238" y="184175"/>
            <a:ext cx="1253100" cy="58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3528488" y="184175"/>
            <a:ext cx="1253100" cy="5871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Tornei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7002155" y="245975"/>
            <a:ext cx="1104300" cy="463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t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Accedi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8197138" y="245975"/>
            <a:ext cx="803100" cy="4635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it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Registrati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2215650" y="1099325"/>
            <a:ext cx="4712700" cy="395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2759550" y="2700478"/>
            <a:ext cx="3624900" cy="56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Password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3818550" y="3973150"/>
            <a:ext cx="1506900" cy="7104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2759550" y="1880525"/>
            <a:ext cx="3624900" cy="56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Username / email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2103120" y="4800600"/>
            <a:ext cx="5212080" cy="256032"/>
          </a:xfrm>
          <a:prstGeom prst="roundRect">
            <a:avLst>
              <a:gd fmla="val 16667" name="adj"/>
            </a:avLst>
          </a:prstGeom>
          <a:solidFill>
            <a:srgbClr val="F0F6FC"/>
          </a:solidFill>
          <a:ln cap="flat" cmpd="sng" w="12700">
            <a:solidFill>
              <a:srgbClr val="225A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225A96"/>
                </a:solidFill>
                <a:latin typeface="Arial"/>
                <a:ea typeface="Arial"/>
                <a:cs typeface="Arial"/>
                <a:sym typeface="Arial"/>
              </a:rPr>
              <a:t>POST /api/auth/login  ·  pulsante “Invia”</a:t>
            </a:r>
            <a:endParaRPr/>
          </a:p>
        </p:txBody>
      </p:sp>
      <p:cxnSp>
        <p:nvCxnSpPr>
          <p:cNvPr id="259" name="Google Shape;259;p22"/>
          <p:cNvCxnSpPr/>
          <p:nvPr/>
        </p:nvCxnSpPr>
        <p:spPr>
          <a:xfrm rot="10800000">
            <a:off x="4572000" y="4663440"/>
            <a:ext cx="0" cy="137160"/>
          </a:xfrm>
          <a:prstGeom prst="straightConnector1">
            <a:avLst/>
          </a:prstGeom>
          <a:noFill/>
          <a:ln cap="flat" cmpd="sng" w="17775">
            <a:solidFill>
              <a:srgbClr val="225A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"/>
          <p:cNvSpPr/>
          <p:nvPr/>
        </p:nvSpPr>
        <p:spPr>
          <a:xfrm>
            <a:off x="0" y="0"/>
            <a:ext cx="9144000" cy="79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182880" y="164592"/>
            <a:ext cx="1234440" cy="5669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2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LOGO</a:t>
            </a:r>
            <a:endParaRPr/>
          </a:p>
        </p:txBody>
      </p:sp>
      <p:sp>
        <p:nvSpPr>
          <p:cNvPr id="266" name="Google Shape;266;p23"/>
          <p:cNvSpPr/>
          <p:nvPr/>
        </p:nvSpPr>
        <p:spPr>
          <a:xfrm>
            <a:off x="1828800" y="182880"/>
            <a:ext cx="1097280" cy="53035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0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3154680" y="182880"/>
            <a:ext cx="1097280" cy="530352"/>
          </a:xfrm>
          <a:prstGeom prst="rect">
            <a:avLst/>
          </a:prstGeom>
          <a:solidFill>
            <a:srgbClr val="DCDCDC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0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Tornei</a:t>
            </a:r>
            <a:endParaRPr/>
          </a:p>
        </p:txBody>
      </p:sp>
      <p:sp>
        <p:nvSpPr>
          <p:cNvPr id="268" name="Google Shape;268;p23"/>
          <p:cNvSpPr/>
          <p:nvPr/>
        </p:nvSpPr>
        <p:spPr>
          <a:xfrm>
            <a:off x="6492240" y="182880"/>
            <a:ext cx="1417320" cy="43891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/>
          </a:p>
        </p:txBody>
      </p:sp>
      <p:sp>
        <p:nvSpPr>
          <p:cNvPr id="269" name="Google Shape;269;p23"/>
          <p:cNvSpPr/>
          <p:nvPr/>
        </p:nvSpPr>
        <p:spPr>
          <a:xfrm>
            <a:off x="8092440" y="182880"/>
            <a:ext cx="822960" cy="43891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Esci</a:t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228600" y="960120"/>
            <a:ext cx="3931920" cy="43891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5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Area amministratore · Gestione tornei</a:t>
            </a:r>
            <a:endParaRPr/>
          </a:p>
        </p:txBody>
      </p:sp>
      <p:sp>
        <p:nvSpPr>
          <p:cNvPr id="271" name="Google Shape;271;p23"/>
          <p:cNvSpPr/>
          <p:nvPr/>
        </p:nvSpPr>
        <p:spPr>
          <a:xfrm>
            <a:off x="6720840" y="960120"/>
            <a:ext cx="2148840" cy="438912"/>
          </a:xfrm>
          <a:prstGeom prst="rect">
            <a:avLst/>
          </a:prstGeom>
          <a:solidFill>
            <a:srgbClr val="DCDCDC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0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+ Crea torneo</a:t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228600" y="1600200"/>
            <a:ext cx="8641080" cy="384048"/>
          </a:xfrm>
          <a:prstGeom prst="rect">
            <a:avLst/>
          </a:prstGeom>
          <a:solidFill>
            <a:srgbClr val="E6E6E6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TORNEO                         GIOCO / DATA                         STATO                AZIONI</a:t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228600" y="2011680"/>
            <a:ext cx="8641080" cy="685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Torneo d’autunno          League of Legends · 16/10 15:00          Aperto</a:t>
            </a:r>
            <a:endParaRPr/>
          </a:p>
        </p:txBody>
      </p:sp>
      <p:sp>
        <p:nvSpPr>
          <p:cNvPr id="274" name="Google Shape;274;p23"/>
          <p:cNvSpPr/>
          <p:nvPr/>
        </p:nvSpPr>
        <p:spPr>
          <a:xfrm>
            <a:off x="5669280" y="2148840"/>
            <a:ext cx="914400" cy="384048"/>
          </a:xfrm>
          <a:prstGeom prst="rect">
            <a:avLst/>
          </a:prstGeom>
          <a:solidFill>
            <a:srgbClr val="EBEBEB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Modifica</a:t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6656832" y="2148840"/>
            <a:ext cx="749808" cy="384048"/>
          </a:xfrm>
          <a:prstGeom prst="rect">
            <a:avLst/>
          </a:prstGeom>
          <a:solidFill>
            <a:srgbClr val="EBEBEB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Chiudi</a:t>
            </a:r>
            <a:endParaRPr/>
          </a:p>
        </p:txBody>
      </p:sp>
      <p:sp>
        <p:nvSpPr>
          <p:cNvPr id="276" name="Google Shape;276;p23"/>
          <p:cNvSpPr/>
          <p:nvPr/>
        </p:nvSpPr>
        <p:spPr>
          <a:xfrm>
            <a:off x="7479792" y="2148840"/>
            <a:ext cx="1143000" cy="384048"/>
          </a:xfrm>
          <a:prstGeom prst="rect">
            <a:avLst/>
          </a:prstGeom>
          <a:solidFill>
            <a:srgbClr val="EBEBEB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7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Visualizza iscritti</a:t>
            </a: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228600" y="2788920"/>
            <a:ext cx="8641080" cy="685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Coppa ITS                    Valorant · 18/10 14:00                         Chiuso</a:t>
            </a:r>
            <a:endParaRPr/>
          </a:p>
        </p:txBody>
      </p:sp>
      <p:sp>
        <p:nvSpPr>
          <p:cNvPr id="278" name="Google Shape;278;p23"/>
          <p:cNvSpPr/>
          <p:nvPr/>
        </p:nvSpPr>
        <p:spPr>
          <a:xfrm>
            <a:off x="5669280" y="2926080"/>
            <a:ext cx="914400" cy="384048"/>
          </a:xfrm>
          <a:prstGeom prst="rect">
            <a:avLst/>
          </a:prstGeom>
          <a:solidFill>
            <a:srgbClr val="EBEBEB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Modifica</a:t>
            </a:r>
            <a:endParaRPr/>
          </a:p>
        </p:txBody>
      </p:sp>
      <p:sp>
        <p:nvSpPr>
          <p:cNvPr id="279" name="Google Shape;279;p23"/>
          <p:cNvSpPr/>
          <p:nvPr/>
        </p:nvSpPr>
        <p:spPr>
          <a:xfrm>
            <a:off x="6656832" y="2926080"/>
            <a:ext cx="749808" cy="384048"/>
          </a:xfrm>
          <a:prstGeom prst="rect">
            <a:avLst/>
          </a:prstGeom>
          <a:solidFill>
            <a:srgbClr val="F5F5F5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Riapri*</a:t>
            </a:r>
            <a:endParaRPr/>
          </a:p>
        </p:txBody>
      </p:sp>
      <p:sp>
        <p:nvSpPr>
          <p:cNvPr id="280" name="Google Shape;280;p23"/>
          <p:cNvSpPr/>
          <p:nvPr/>
        </p:nvSpPr>
        <p:spPr>
          <a:xfrm>
            <a:off x="7479792" y="2926080"/>
            <a:ext cx="1143000" cy="384048"/>
          </a:xfrm>
          <a:prstGeom prst="rect">
            <a:avLst/>
          </a:prstGeom>
          <a:solidFill>
            <a:srgbClr val="EBEBEB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7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Visualizza iscritti</a:t>
            </a:r>
            <a:endParaRPr/>
          </a:p>
        </p:txBody>
      </p:sp>
      <p:sp>
        <p:nvSpPr>
          <p:cNvPr id="281" name="Google Shape;281;p23"/>
          <p:cNvSpPr/>
          <p:nvPr/>
        </p:nvSpPr>
        <p:spPr>
          <a:xfrm>
            <a:off x="228600" y="3749039"/>
            <a:ext cx="2651760" cy="384048"/>
          </a:xfrm>
          <a:prstGeom prst="roundRect">
            <a:avLst>
              <a:gd fmla="val 16667" name="adj"/>
            </a:avLst>
          </a:prstGeom>
          <a:solidFill>
            <a:srgbClr val="F0F6FC"/>
          </a:solidFill>
          <a:ln cap="flat" cmpd="sng" w="12700">
            <a:solidFill>
              <a:srgbClr val="225A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225A96"/>
                </a:solidFill>
                <a:latin typeface="Arial"/>
                <a:ea typeface="Arial"/>
                <a:cs typeface="Arial"/>
                <a:sym typeface="Arial"/>
              </a:rPr>
              <a:t>POST /api/tornei</a:t>
            </a:r>
            <a:endParaRPr/>
          </a:p>
        </p:txBody>
      </p:sp>
      <p:cxnSp>
        <p:nvCxnSpPr>
          <p:cNvPr id="282" name="Google Shape;282;p23"/>
          <p:cNvCxnSpPr/>
          <p:nvPr/>
        </p:nvCxnSpPr>
        <p:spPr>
          <a:xfrm flipH="1" rot="10800000">
            <a:off x="2651760" y="1389888"/>
            <a:ext cx="5029200" cy="2359151"/>
          </a:xfrm>
          <a:prstGeom prst="straightConnector1">
            <a:avLst/>
          </a:prstGeom>
          <a:noFill/>
          <a:ln cap="flat" cmpd="sng" w="17775">
            <a:solidFill>
              <a:srgbClr val="225A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3" name="Google Shape;283;p23"/>
          <p:cNvSpPr/>
          <p:nvPr/>
        </p:nvSpPr>
        <p:spPr>
          <a:xfrm>
            <a:off x="228600" y="4224528"/>
            <a:ext cx="2651760" cy="384048"/>
          </a:xfrm>
          <a:prstGeom prst="roundRect">
            <a:avLst>
              <a:gd fmla="val 16667" name="adj"/>
            </a:avLst>
          </a:prstGeom>
          <a:solidFill>
            <a:srgbClr val="F0F6FC"/>
          </a:solidFill>
          <a:ln cap="flat" cmpd="sng" w="12700">
            <a:solidFill>
              <a:srgbClr val="225A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800" u="none" cap="none" strike="noStrike">
                <a:solidFill>
                  <a:srgbClr val="225A96"/>
                </a:solidFill>
                <a:latin typeface="Arial"/>
                <a:ea typeface="Arial"/>
                <a:cs typeface="Arial"/>
                <a:sym typeface="Arial"/>
              </a:rPr>
              <a:t>PUT /api/tornei/{id}</a:t>
            </a:r>
            <a:endParaRPr/>
          </a:p>
        </p:txBody>
      </p:sp>
      <p:cxnSp>
        <p:nvCxnSpPr>
          <p:cNvPr id="284" name="Google Shape;284;p23"/>
          <p:cNvCxnSpPr/>
          <p:nvPr/>
        </p:nvCxnSpPr>
        <p:spPr>
          <a:xfrm flipH="1" rot="10800000">
            <a:off x="2743200" y="2514600"/>
            <a:ext cx="3337560" cy="1709928"/>
          </a:xfrm>
          <a:prstGeom prst="straightConnector1">
            <a:avLst/>
          </a:prstGeom>
          <a:noFill/>
          <a:ln cap="flat" cmpd="sng" w="17775">
            <a:solidFill>
              <a:srgbClr val="225A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5" name="Google Shape;285;p23"/>
          <p:cNvSpPr/>
          <p:nvPr/>
        </p:nvSpPr>
        <p:spPr>
          <a:xfrm>
            <a:off x="3063240" y="3749039"/>
            <a:ext cx="2926080" cy="384048"/>
          </a:xfrm>
          <a:prstGeom prst="roundRect">
            <a:avLst>
              <a:gd fmla="val 16667" name="adj"/>
            </a:avLst>
          </a:prstGeom>
          <a:solidFill>
            <a:srgbClr val="F0F6FC"/>
          </a:solidFill>
          <a:ln cap="flat" cmpd="sng" w="12700">
            <a:solidFill>
              <a:srgbClr val="225A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700" u="none" cap="none" strike="noStrike">
                <a:solidFill>
                  <a:srgbClr val="225A96"/>
                </a:solidFill>
                <a:latin typeface="Arial"/>
                <a:ea typeface="Arial"/>
                <a:cs typeface="Arial"/>
                <a:sym typeface="Arial"/>
              </a:rPr>
              <a:t>PUT /api/tornei/{id} · stato=chiuso</a:t>
            </a:r>
            <a:endParaRPr/>
          </a:p>
        </p:txBody>
      </p:sp>
      <p:cxnSp>
        <p:nvCxnSpPr>
          <p:cNvPr id="286" name="Google Shape;286;p23"/>
          <p:cNvCxnSpPr/>
          <p:nvPr/>
        </p:nvCxnSpPr>
        <p:spPr>
          <a:xfrm flipH="1" rot="10800000">
            <a:off x="4663440" y="2514600"/>
            <a:ext cx="2377440" cy="1234439"/>
          </a:xfrm>
          <a:prstGeom prst="straightConnector1">
            <a:avLst/>
          </a:prstGeom>
          <a:noFill/>
          <a:ln cap="flat" cmpd="sng" w="17775">
            <a:solidFill>
              <a:srgbClr val="225A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7" name="Google Shape;287;p23"/>
          <p:cNvSpPr/>
          <p:nvPr/>
        </p:nvSpPr>
        <p:spPr>
          <a:xfrm>
            <a:off x="6172200" y="3749039"/>
            <a:ext cx="2697480" cy="384048"/>
          </a:xfrm>
          <a:prstGeom prst="roundRect">
            <a:avLst>
              <a:gd fmla="val 16667" name="adj"/>
            </a:avLst>
          </a:prstGeom>
          <a:solidFill>
            <a:srgbClr val="FFF5F5"/>
          </a:solidFill>
          <a:ln cap="flat" cmpd="sng" w="12700">
            <a:solidFill>
              <a:srgbClr val="B437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700" u="none" cap="none" strike="noStrike">
                <a:solidFill>
                  <a:srgbClr val="B43737"/>
                </a:solidFill>
                <a:latin typeface="Arial"/>
                <a:ea typeface="Arial"/>
                <a:cs typeface="Arial"/>
                <a:sym typeface="Arial"/>
              </a:rPr>
              <a:t>GET iscritti: endpoint da definire</a:t>
            </a:r>
            <a:endParaRPr/>
          </a:p>
        </p:txBody>
      </p:sp>
      <p:cxnSp>
        <p:nvCxnSpPr>
          <p:cNvPr id="288" name="Google Shape;288;p23"/>
          <p:cNvCxnSpPr/>
          <p:nvPr/>
        </p:nvCxnSpPr>
        <p:spPr>
          <a:xfrm flipH="1" rot="10800000">
            <a:off x="7543800" y="2514600"/>
            <a:ext cx="502920" cy="1234439"/>
          </a:xfrm>
          <a:prstGeom prst="straightConnector1">
            <a:avLst/>
          </a:prstGeom>
          <a:noFill/>
          <a:ln cap="flat" cmpd="sng" w="17775">
            <a:solidFill>
              <a:srgbClr val="B437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9" name="Google Shape;289;p23"/>
          <p:cNvSpPr txBox="1"/>
          <p:nvPr/>
        </p:nvSpPr>
        <p:spPr>
          <a:xfrm>
            <a:off x="228600" y="4736592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* “Riapri” non è richiesto dall’MVP. Le azioni admin devono essere protette lato backend (ruolo admin).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4"/>
          <p:cNvSpPr/>
          <p:nvPr/>
        </p:nvSpPr>
        <p:spPr>
          <a:xfrm>
            <a:off x="228600" y="182880"/>
            <a:ext cx="859536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6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Mappa endpoint · riepilogo per frontend/backend</a:t>
            </a:r>
            <a:endParaRPr/>
          </a:p>
        </p:txBody>
      </p:sp>
      <p:sp>
        <p:nvSpPr>
          <p:cNvPr id="295" name="Google Shape;295;p24"/>
          <p:cNvSpPr/>
          <p:nvPr/>
        </p:nvSpPr>
        <p:spPr>
          <a:xfrm>
            <a:off x="228600" y="868680"/>
            <a:ext cx="1143000" cy="347472"/>
          </a:xfrm>
          <a:prstGeom prst="rect">
            <a:avLst/>
          </a:prstGeom>
          <a:solidFill>
            <a:srgbClr val="DCDCDC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METODO</a:t>
            </a:r>
            <a:endParaRPr/>
          </a:p>
        </p:txBody>
      </p:sp>
      <p:sp>
        <p:nvSpPr>
          <p:cNvPr id="296" name="Google Shape;296;p24"/>
          <p:cNvSpPr/>
          <p:nvPr/>
        </p:nvSpPr>
        <p:spPr>
          <a:xfrm>
            <a:off x="1417320" y="868680"/>
            <a:ext cx="3108960" cy="347472"/>
          </a:xfrm>
          <a:prstGeom prst="rect">
            <a:avLst/>
          </a:prstGeom>
          <a:solidFill>
            <a:srgbClr val="DCDCDC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ENDPOINT</a:t>
            </a:r>
            <a:endParaRPr/>
          </a:p>
        </p:txBody>
      </p:sp>
      <p:sp>
        <p:nvSpPr>
          <p:cNvPr id="297" name="Google Shape;297;p24"/>
          <p:cNvSpPr/>
          <p:nvPr/>
        </p:nvSpPr>
        <p:spPr>
          <a:xfrm>
            <a:off x="4617720" y="868680"/>
            <a:ext cx="1920240" cy="347472"/>
          </a:xfrm>
          <a:prstGeom prst="rect">
            <a:avLst/>
          </a:prstGeom>
          <a:solidFill>
            <a:srgbClr val="DCDCDC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AZIONE UI</a:t>
            </a:r>
            <a:endParaRPr/>
          </a:p>
        </p:txBody>
      </p:sp>
      <p:sp>
        <p:nvSpPr>
          <p:cNvPr id="298" name="Google Shape;298;p24"/>
          <p:cNvSpPr/>
          <p:nvPr/>
        </p:nvSpPr>
        <p:spPr>
          <a:xfrm>
            <a:off x="6629400" y="868680"/>
            <a:ext cx="2194560" cy="347472"/>
          </a:xfrm>
          <a:prstGeom prst="rect">
            <a:avLst/>
          </a:prstGeom>
          <a:solidFill>
            <a:srgbClr val="DCDCDC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ACCESSO</a:t>
            </a:r>
            <a:endParaRPr/>
          </a:p>
        </p:txBody>
      </p:sp>
      <p:sp>
        <p:nvSpPr>
          <p:cNvPr id="299" name="Google Shape;299;p24"/>
          <p:cNvSpPr/>
          <p:nvPr/>
        </p:nvSpPr>
        <p:spPr>
          <a:xfrm>
            <a:off x="228600" y="1261872"/>
            <a:ext cx="114300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endParaRPr/>
          </a:p>
        </p:txBody>
      </p:sp>
      <p:sp>
        <p:nvSpPr>
          <p:cNvPr id="300" name="Google Shape;300;p24"/>
          <p:cNvSpPr/>
          <p:nvPr/>
        </p:nvSpPr>
        <p:spPr>
          <a:xfrm>
            <a:off x="1417320" y="1261872"/>
            <a:ext cx="310896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/api/tornei</a:t>
            </a:r>
            <a:endParaRPr/>
          </a:p>
        </p:txBody>
      </p:sp>
      <p:sp>
        <p:nvSpPr>
          <p:cNvPr id="301" name="Google Shape;301;p24"/>
          <p:cNvSpPr/>
          <p:nvPr/>
        </p:nvSpPr>
        <p:spPr>
          <a:xfrm>
            <a:off x="4617720" y="1261872"/>
            <a:ext cx="192024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Catalogo tornei</a:t>
            </a:r>
            <a:endParaRPr/>
          </a:p>
        </p:txBody>
      </p:sp>
      <p:sp>
        <p:nvSpPr>
          <p:cNvPr id="302" name="Google Shape;302;p24"/>
          <p:cNvSpPr/>
          <p:nvPr/>
        </p:nvSpPr>
        <p:spPr>
          <a:xfrm>
            <a:off x="6629400" y="1261872"/>
            <a:ext cx="219456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Pubblico</a:t>
            </a:r>
            <a:endParaRPr/>
          </a:p>
        </p:txBody>
      </p:sp>
      <p:sp>
        <p:nvSpPr>
          <p:cNvPr id="303" name="Google Shape;303;p24"/>
          <p:cNvSpPr/>
          <p:nvPr/>
        </p:nvSpPr>
        <p:spPr>
          <a:xfrm>
            <a:off x="228600" y="1700784"/>
            <a:ext cx="114300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endParaRPr/>
          </a:p>
        </p:txBody>
      </p:sp>
      <p:sp>
        <p:nvSpPr>
          <p:cNvPr id="304" name="Google Shape;304;p24"/>
          <p:cNvSpPr/>
          <p:nvPr/>
        </p:nvSpPr>
        <p:spPr>
          <a:xfrm>
            <a:off x="1417320" y="1700784"/>
            <a:ext cx="310896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/api/tornei/{id}</a:t>
            </a:r>
            <a:endParaRPr/>
          </a:p>
        </p:txBody>
      </p:sp>
      <p:sp>
        <p:nvSpPr>
          <p:cNvPr id="305" name="Google Shape;305;p24"/>
          <p:cNvSpPr/>
          <p:nvPr/>
        </p:nvSpPr>
        <p:spPr>
          <a:xfrm>
            <a:off x="4617720" y="1700784"/>
            <a:ext cx="192024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Visualizza / dettaglio</a:t>
            </a:r>
            <a:endParaRPr/>
          </a:p>
        </p:txBody>
      </p:sp>
      <p:sp>
        <p:nvSpPr>
          <p:cNvPr id="306" name="Google Shape;306;p24"/>
          <p:cNvSpPr/>
          <p:nvPr/>
        </p:nvSpPr>
        <p:spPr>
          <a:xfrm>
            <a:off x="6629400" y="1700784"/>
            <a:ext cx="219456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Pubblico</a:t>
            </a:r>
            <a:endParaRPr/>
          </a:p>
        </p:txBody>
      </p:sp>
      <p:sp>
        <p:nvSpPr>
          <p:cNvPr id="307" name="Google Shape;307;p24"/>
          <p:cNvSpPr/>
          <p:nvPr/>
        </p:nvSpPr>
        <p:spPr>
          <a:xfrm>
            <a:off x="228600" y="2139696"/>
            <a:ext cx="114300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/>
          </a:p>
        </p:txBody>
      </p:sp>
      <p:sp>
        <p:nvSpPr>
          <p:cNvPr id="308" name="Google Shape;308;p24"/>
          <p:cNvSpPr/>
          <p:nvPr/>
        </p:nvSpPr>
        <p:spPr>
          <a:xfrm>
            <a:off x="1417320" y="2139696"/>
            <a:ext cx="310896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/api/auth/login</a:t>
            </a:r>
            <a:endParaRPr/>
          </a:p>
        </p:txBody>
      </p:sp>
      <p:sp>
        <p:nvSpPr>
          <p:cNvPr id="309" name="Google Shape;309;p24"/>
          <p:cNvSpPr/>
          <p:nvPr/>
        </p:nvSpPr>
        <p:spPr>
          <a:xfrm>
            <a:off x="4617720" y="2139696"/>
            <a:ext cx="192024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Invia login</a:t>
            </a:r>
            <a:endParaRPr/>
          </a:p>
        </p:txBody>
      </p:sp>
      <p:sp>
        <p:nvSpPr>
          <p:cNvPr id="310" name="Google Shape;310;p24"/>
          <p:cNvSpPr/>
          <p:nvPr/>
        </p:nvSpPr>
        <p:spPr>
          <a:xfrm>
            <a:off x="6629400" y="2139696"/>
            <a:ext cx="219456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Pubblico</a:t>
            </a:r>
            <a:endParaRPr/>
          </a:p>
        </p:txBody>
      </p:sp>
      <p:sp>
        <p:nvSpPr>
          <p:cNvPr id="311" name="Google Shape;311;p24"/>
          <p:cNvSpPr/>
          <p:nvPr/>
        </p:nvSpPr>
        <p:spPr>
          <a:xfrm>
            <a:off x="228600" y="2578608"/>
            <a:ext cx="114300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/>
          </a:p>
        </p:txBody>
      </p:sp>
      <p:sp>
        <p:nvSpPr>
          <p:cNvPr id="312" name="Google Shape;312;p24"/>
          <p:cNvSpPr/>
          <p:nvPr/>
        </p:nvSpPr>
        <p:spPr>
          <a:xfrm>
            <a:off x="1417320" y="2578608"/>
            <a:ext cx="310896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/api/tornei/{id}/iscrizioni</a:t>
            </a:r>
            <a:endParaRPr/>
          </a:p>
        </p:txBody>
      </p:sp>
      <p:sp>
        <p:nvSpPr>
          <p:cNvPr id="313" name="Google Shape;313;p24"/>
          <p:cNvSpPr/>
          <p:nvPr/>
        </p:nvSpPr>
        <p:spPr>
          <a:xfrm>
            <a:off x="4617720" y="2578608"/>
            <a:ext cx="192024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Iscriviti</a:t>
            </a:r>
            <a:endParaRPr/>
          </a:p>
        </p:txBody>
      </p:sp>
      <p:sp>
        <p:nvSpPr>
          <p:cNvPr id="314" name="Google Shape;314;p24"/>
          <p:cNvSpPr/>
          <p:nvPr/>
        </p:nvSpPr>
        <p:spPr>
          <a:xfrm>
            <a:off x="6629400" y="2578608"/>
            <a:ext cx="219456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Utente autenticato</a:t>
            </a:r>
            <a:endParaRPr/>
          </a:p>
        </p:txBody>
      </p:sp>
      <p:sp>
        <p:nvSpPr>
          <p:cNvPr id="315" name="Google Shape;315;p24"/>
          <p:cNvSpPr/>
          <p:nvPr/>
        </p:nvSpPr>
        <p:spPr>
          <a:xfrm>
            <a:off x="228600" y="3017520"/>
            <a:ext cx="114300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endParaRPr/>
          </a:p>
        </p:txBody>
      </p:sp>
      <p:sp>
        <p:nvSpPr>
          <p:cNvPr id="316" name="Google Shape;316;p24"/>
          <p:cNvSpPr/>
          <p:nvPr/>
        </p:nvSpPr>
        <p:spPr>
          <a:xfrm>
            <a:off x="1417320" y="3017520"/>
            <a:ext cx="310896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/api/tornei/{id}/iscrizioni</a:t>
            </a:r>
            <a:endParaRPr/>
          </a:p>
        </p:txBody>
      </p:sp>
      <p:sp>
        <p:nvSpPr>
          <p:cNvPr id="317" name="Google Shape;317;p24"/>
          <p:cNvSpPr/>
          <p:nvPr/>
        </p:nvSpPr>
        <p:spPr>
          <a:xfrm>
            <a:off x="4617720" y="3017520"/>
            <a:ext cx="192024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Annulla iscrizione</a:t>
            </a:r>
            <a:endParaRPr/>
          </a:p>
        </p:txBody>
      </p:sp>
      <p:sp>
        <p:nvSpPr>
          <p:cNvPr id="318" name="Google Shape;318;p24"/>
          <p:cNvSpPr/>
          <p:nvPr/>
        </p:nvSpPr>
        <p:spPr>
          <a:xfrm>
            <a:off x="6629400" y="3017520"/>
            <a:ext cx="219456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Utente autenticato</a:t>
            </a:r>
            <a:endParaRPr/>
          </a:p>
        </p:txBody>
      </p:sp>
      <p:sp>
        <p:nvSpPr>
          <p:cNvPr id="319" name="Google Shape;319;p24"/>
          <p:cNvSpPr/>
          <p:nvPr/>
        </p:nvSpPr>
        <p:spPr>
          <a:xfrm>
            <a:off x="228600" y="3456432"/>
            <a:ext cx="114300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/>
          </a:p>
        </p:txBody>
      </p:sp>
      <p:sp>
        <p:nvSpPr>
          <p:cNvPr id="320" name="Google Shape;320;p24"/>
          <p:cNvSpPr/>
          <p:nvPr/>
        </p:nvSpPr>
        <p:spPr>
          <a:xfrm>
            <a:off x="1417320" y="3456432"/>
            <a:ext cx="310896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/api/tornei</a:t>
            </a:r>
            <a:endParaRPr/>
          </a:p>
        </p:txBody>
      </p:sp>
      <p:sp>
        <p:nvSpPr>
          <p:cNvPr id="321" name="Google Shape;321;p24"/>
          <p:cNvSpPr/>
          <p:nvPr/>
        </p:nvSpPr>
        <p:spPr>
          <a:xfrm>
            <a:off x="4617720" y="3456432"/>
            <a:ext cx="192024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Crea torneo (admin)</a:t>
            </a:r>
            <a:endParaRPr/>
          </a:p>
        </p:txBody>
      </p:sp>
      <p:sp>
        <p:nvSpPr>
          <p:cNvPr id="322" name="Google Shape;322;p24"/>
          <p:cNvSpPr/>
          <p:nvPr/>
        </p:nvSpPr>
        <p:spPr>
          <a:xfrm>
            <a:off x="6629400" y="3456432"/>
            <a:ext cx="219456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/>
          </a:p>
        </p:txBody>
      </p:sp>
      <p:sp>
        <p:nvSpPr>
          <p:cNvPr id="323" name="Google Shape;323;p24"/>
          <p:cNvSpPr/>
          <p:nvPr/>
        </p:nvSpPr>
        <p:spPr>
          <a:xfrm>
            <a:off x="228600" y="3895344"/>
            <a:ext cx="114300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PUT</a:t>
            </a:r>
            <a:endParaRPr/>
          </a:p>
        </p:txBody>
      </p:sp>
      <p:sp>
        <p:nvSpPr>
          <p:cNvPr id="324" name="Google Shape;324;p24"/>
          <p:cNvSpPr/>
          <p:nvPr/>
        </p:nvSpPr>
        <p:spPr>
          <a:xfrm>
            <a:off x="1417320" y="3895344"/>
            <a:ext cx="310896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/api/tornei/{id}</a:t>
            </a:r>
            <a:endParaRPr/>
          </a:p>
        </p:txBody>
      </p:sp>
      <p:sp>
        <p:nvSpPr>
          <p:cNvPr id="325" name="Google Shape;325;p24"/>
          <p:cNvSpPr/>
          <p:nvPr/>
        </p:nvSpPr>
        <p:spPr>
          <a:xfrm>
            <a:off x="4617720" y="3895344"/>
            <a:ext cx="192024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Modifica / chiudi torneo</a:t>
            </a:r>
            <a:endParaRPr/>
          </a:p>
        </p:txBody>
      </p:sp>
      <p:sp>
        <p:nvSpPr>
          <p:cNvPr id="326" name="Google Shape;326;p24"/>
          <p:cNvSpPr/>
          <p:nvPr/>
        </p:nvSpPr>
        <p:spPr>
          <a:xfrm>
            <a:off x="6629400" y="3895344"/>
            <a:ext cx="219456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8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/>
          </a:p>
        </p:txBody>
      </p:sp>
      <p:sp>
        <p:nvSpPr>
          <p:cNvPr id="327" name="Google Shape;327;p24"/>
          <p:cNvSpPr/>
          <p:nvPr/>
        </p:nvSpPr>
        <p:spPr>
          <a:xfrm>
            <a:off x="228600" y="4480560"/>
            <a:ext cx="8595360" cy="475488"/>
          </a:xfrm>
          <a:prstGeom prst="rect">
            <a:avLst/>
          </a:prstGeom>
          <a:solidFill>
            <a:srgbClr val="FFF5F5"/>
          </a:solidFill>
          <a:ln cap="flat" cmpd="sng" w="10150">
            <a:solidFill>
              <a:srgbClr val="B437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900" u="none" cap="none" strike="noStrike">
                <a:solidFill>
                  <a:srgbClr val="28323C"/>
                </a:solidFill>
                <a:latin typeface="Arial"/>
                <a:ea typeface="Arial"/>
                <a:cs typeface="Arial"/>
                <a:sym typeface="Arial"/>
              </a:rPr>
              <a:t>DA CONCORDARE nel docs/api.md: endpoint di registrazione, endpoint per elenco iscritti del torneo.</a:t>
            </a:r>
            <a:endParaRPr/>
          </a:p>
        </p:txBody>
      </p:sp>
      <p:sp>
        <p:nvSpPr>
          <p:cNvPr id="328" name="Google Shape;328;p24"/>
          <p:cNvSpPr/>
          <p:nvPr/>
        </p:nvSpPr>
        <p:spPr>
          <a:xfrm>
            <a:off x="228600" y="5010912"/>
            <a:ext cx="8595360" cy="914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73150" spcFirstLastPara="1" rIns="548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